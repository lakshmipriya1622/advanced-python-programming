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985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team and the stack: OOP, Pandas, NumPy, Tkinter, SQLite and Matplotlib combined into one expense-analytics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problems, then the proposed solution: one structured system. Walk through the five-step process flow from capture to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four objectives, the aligned course outcomes CO-1, CO-4 and CO-5, and the software requirements: Python 3 with Tkinter, Pandas, NumPy, Matplotlib, SQLite3 and the csv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layers top to bottom, then the SQLite schema: a transactions table and a budgets table. Close with the data flow from CSV to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six key features. Right: the Python concepts actually implemented: OOP, inheritance from Tkinter classes, map/reduce with lambda, the custom iterator, and Pandas/NumPy.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dashboard and analytics screens, then the prototype validation numbers from the 730-day demo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one system for record, analyze, control and visualize. Present future scope as extensions, not current features. 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7589520" y="182880"/>
            <a:ext cx="1280160" cy="1280160"/>
          </a:xfrm>
          <a:prstGeom prst="ellipse">
            <a:avLst/>
          </a:prstGeom>
          <a:solidFill>
            <a:srgbClr val="CF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Orb2"/>
          <p:cNvSpPr/>
          <p:nvPr/>
        </p:nvSpPr>
        <p:spPr>
          <a:xfrm>
            <a:off x="5760720" y="4114800"/>
            <a:ext cx="914400" cy="914400"/>
          </a:xfrm>
          <a:prstGeom prst="ellipse">
            <a:avLst/>
          </a:prstGeom>
          <a:solidFill>
            <a:srgbClr val="D6E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!!Kicker"/>
          <p:cNvSpPr txBox="1"/>
          <p:nvPr/>
        </p:nvSpPr>
        <p:spPr>
          <a:xfrm>
            <a:off x="548640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UNIVERSITY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548640" y="91440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Expense Analytics &amp; Budget Management System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Advanced Python micro-project that turns everyday spending into an easy-to-understand financial dashboard.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26464" y="361188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04288" y="361188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82112" y="361188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59936" y="361188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361188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Project-1  •  E1CSA313 / E1ITA306  •  Micro-Project Presentation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54864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55080" y="77724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777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64592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EE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0" y="17373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Rao Metta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359152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EE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2450592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4505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Harshita Chhabra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3072384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EE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0" y="3163824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31638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Rajasree 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785616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EE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0" y="3877056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38770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Lakshmi Priya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5FCADDA-D9E2-36EA-E944-564BB95DF6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714" y="5026"/>
            <a:ext cx="2445479" cy="457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18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1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3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26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7955280" y="91440"/>
            <a:ext cx="1005840" cy="1005840"/>
          </a:xfrm>
          <a:prstGeom prst="ellipse">
            <a:avLst/>
          </a:prstGeom>
          <a:solidFill>
            <a:srgbClr val="CF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Orb2"/>
          <p:cNvSpPr/>
          <p:nvPr/>
        </p:nvSpPr>
        <p:spPr>
          <a:xfrm>
            <a:off x="8321040" y="3474720"/>
            <a:ext cx="731520" cy="731520"/>
          </a:xfrm>
          <a:prstGeom prst="ellipse">
            <a:avLst/>
          </a:prstGeom>
          <a:solidFill>
            <a:srgbClr val="D6E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!!Kicker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&amp; PROPOSED SOLUTION</a:t>
            </a:r>
            <a:endParaRPr lang="en-US" sz="1000" dirty="0"/>
          </a:p>
        </p:txBody>
      </p:sp>
      <p:sp>
        <p:nvSpPr>
          <p:cNvPr id="5" name="!!Title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visibility, not spending</a:t>
            </a:r>
            <a:endParaRPr lang="en-US" sz="2600" dirty="0"/>
          </a:p>
        </p:txBody>
      </p:sp>
      <p:sp>
        <p:nvSpPr>
          <p:cNvPr id="6" name="!!Footer"/>
          <p:cNvSpPr txBox="1"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Expense Analytics &amp; Budget Management System</a:t>
            </a:r>
            <a:endParaRPr lang="en-US" sz="850" dirty="0"/>
          </a:p>
        </p:txBody>
      </p:sp>
      <p:sp>
        <p:nvSpPr>
          <p:cNvPr id="7" name="!!PageNo"/>
          <p:cNvSpPr txBox="1"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21792" y="1426464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1581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expenses live in notes, messages and sheets, so there is no single view of actual spending.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075688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21792" y="226771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167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discovery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Overspending is noticed only at month-end, when correction is much harder.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2916936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1792" y="31089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3008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patterns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category and time analysis, recurring habits stay hidden.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349240" y="1234440"/>
            <a:ext cx="3337560" cy="2432304"/>
          </a:xfrm>
          <a:prstGeom prst="roundRect">
            <a:avLst>
              <a:gd name="adj" fmla="val 3008"/>
            </a:avLst>
          </a:prstGeom>
          <a:solidFill>
            <a:srgbClr val="DDF4EF"/>
          </a:solidFill>
          <a:ln w="9525">
            <a:solidFill>
              <a:srgbClr val="DDF4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5532120" y="13898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532120" y="16916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structured system for every transaction, turned into decisions the user can see.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532120" y="28529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A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→ ONE SOURCE OF TRUTH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Transaction object powers storage, analytics, budget checks and the dashboard.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3730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950208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 txBox="1"/>
          <p:nvPr/>
        </p:nvSpPr>
        <p:spPr>
          <a:xfrm>
            <a:off x="566928" y="4023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CAPTURE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42611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or CSV import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125980" y="3950208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 txBox="1"/>
          <p:nvPr/>
        </p:nvSpPr>
        <p:spPr>
          <a:xfrm>
            <a:off x="2235708" y="4023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STORE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2235708" y="42611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object + SQLite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794760" y="3950208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 txBox="1"/>
          <p:nvPr/>
        </p:nvSpPr>
        <p:spPr>
          <a:xfrm>
            <a:off x="3904488" y="4023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ANALYZE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3904488" y="42611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month aggregation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463540" y="3950208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 txBox="1"/>
          <p:nvPr/>
        </p:nvSpPr>
        <p:spPr>
          <a:xfrm>
            <a:off x="5573268" y="4023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COMPARE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5573268" y="42611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spending vs budget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132320" y="3950208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 txBox="1"/>
          <p:nvPr/>
        </p:nvSpPr>
        <p:spPr>
          <a:xfrm>
            <a:off x="7242048" y="4023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VISUALIZE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7242048" y="42611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+ dashboard insights</a:t>
            </a:r>
            <a:endParaRPr lang="en-US" sz="9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6B8E96F-828E-70B4-9BD9-E2D5A1701C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714" y="5026"/>
            <a:ext cx="2445479" cy="457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7406640" y="182880"/>
            <a:ext cx="1097280" cy="1097280"/>
          </a:xfrm>
          <a:prstGeom prst="ellipse">
            <a:avLst/>
          </a:prstGeom>
          <a:solidFill>
            <a:srgbClr val="CF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Orb2"/>
          <p:cNvSpPr/>
          <p:nvPr/>
        </p:nvSpPr>
        <p:spPr>
          <a:xfrm>
            <a:off x="8412480" y="4023360"/>
            <a:ext cx="640080" cy="640080"/>
          </a:xfrm>
          <a:prstGeom prst="ellipse">
            <a:avLst/>
          </a:prstGeom>
          <a:solidFill>
            <a:srgbClr val="D6E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!!Kicker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OBJECTIVES, OUTCOMES &amp; SOFTWARE REQUIREMENTS</a:t>
            </a:r>
            <a:endParaRPr lang="en-US" sz="1000" dirty="0"/>
          </a:p>
        </p:txBody>
      </p:sp>
      <p:sp>
        <p:nvSpPr>
          <p:cNvPr id="5" name="!!Title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objectives, three course outcomes</a:t>
            </a:r>
            <a:endParaRPr lang="en-US" sz="2600" dirty="0"/>
          </a:p>
        </p:txBody>
      </p:sp>
      <p:sp>
        <p:nvSpPr>
          <p:cNvPr id="6" name="!!Footer"/>
          <p:cNvSpPr txBox="1"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Expense Analytics &amp; Budget Management System</a:t>
            </a:r>
            <a:endParaRPr lang="en-US" sz="850" dirty="0"/>
          </a:p>
        </p:txBody>
      </p:sp>
      <p:sp>
        <p:nvSpPr>
          <p:cNvPr id="7" name="!!PageNo"/>
          <p:cNvSpPr txBox="1"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8562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date, category, amount and description for every expense.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880360" y="123444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017520" y="137160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18562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spending by category and month using structured data.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25146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94360" y="26517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31363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spending against user-defined monthly category budgets.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880360" y="25146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017520" y="26517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017520" y="31363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patterns through readable dashboards and charts.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40680" y="123444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5623560" y="1371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623560" y="17007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949440" y="1700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623560" y="20299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949440" y="2029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623560" y="23591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5623560" y="26883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949440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5623560" y="3017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94944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623560" y="3346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module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3346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57200" y="3886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594360" y="4023360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CO-1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280160" y="39593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 for modular, reusable Python applications.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246120" y="3886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3383280" y="4023360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CO-4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4069080" y="39593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and visualization for effective presentation.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035040" y="3886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6172200" y="4023360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21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CO-5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858000" y="39593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Full-fledged application with storage and a user interface.</a:t>
            </a:r>
            <a:endParaRPr lang="en-US" sz="10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8371AE9-601C-E046-59C5-1882C10AD7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714" y="5026"/>
            <a:ext cx="2445479" cy="457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7863840" y="109728"/>
            <a:ext cx="914400" cy="914400"/>
          </a:xfrm>
          <a:prstGeom prst="ellipse">
            <a:avLst/>
          </a:prstGeom>
          <a:solidFill>
            <a:srgbClr val="CF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Orb2"/>
          <p:cNvSpPr/>
          <p:nvPr/>
        </p:nvSpPr>
        <p:spPr>
          <a:xfrm>
            <a:off x="8503920" y="822960"/>
            <a:ext cx="548640" cy="548640"/>
          </a:xfrm>
          <a:prstGeom prst="ellipse">
            <a:avLst/>
          </a:prstGeom>
          <a:solidFill>
            <a:srgbClr val="D6E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!!Kicker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 ARCHITECTURE &amp; DATABASE DESIGN</a:t>
            </a:r>
            <a:endParaRPr lang="en-US" sz="1000" dirty="0"/>
          </a:p>
        </p:txBody>
      </p:sp>
      <p:sp>
        <p:nvSpPr>
          <p:cNvPr id="5" name="!!Title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design with one shared data model</a:t>
            </a:r>
            <a:endParaRPr lang="en-US" sz="2600" dirty="0"/>
          </a:p>
        </p:txBody>
      </p:sp>
      <p:sp>
        <p:nvSpPr>
          <p:cNvPr id="6" name="!!Footer"/>
          <p:cNvSpPr txBox="1"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Expense Analytics &amp; Budget Management System</a:t>
            </a:r>
            <a:endParaRPr lang="en-US" sz="850" dirty="0"/>
          </a:p>
        </p:txBody>
      </p:sp>
      <p:sp>
        <p:nvSpPr>
          <p:cNvPr id="7" name="!!PageNo"/>
          <p:cNvSpPr txBox="1"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4343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4360" y="1335024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307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5270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dashboard • forms • navigation • quick actions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1892808"/>
            <a:ext cx="4343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94360" y="199339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19659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21854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+ Budget classes • validation • workflow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551176"/>
            <a:ext cx="4343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94360" y="26517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6243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VISUALIZATION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8437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 aggregation • Matplotlib charts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209544"/>
            <a:ext cx="4343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94360" y="331012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2826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35021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• CSV import / export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0" y="1216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· SQLITE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63040"/>
          <a:ext cx="3657600" cy="15087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F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· primary key, auto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(YYYY-MM-DD)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3108960"/>
          <a:ext cx="3657600" cy="7543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F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· 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limit_amount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Shape 23"/>
          <p:cNvSpPr/>
          <p:nvPr/>
        </p:nvSpPr>
        <p:spPr>
          <a:xfrm>
            <a:off x="457200" y="393192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DDF4EF"/>
          </a:solidFill>
          <a:ln w="9525">
            <a:solidFill>
              <a:srgbClr val="DDF4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 txBox="1"/>
          <p:nvPr/>
        </p:nvSpPr>
        <p:spPr>
          <a:xfrm>
            <a:off x="640080" y="40233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A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640080" y="42428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cohesion, low coupling: each module does one clear job and connects through simple data structures.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029200" y="393192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DDF4EF"/>
          </a:solidFill>
          <a:ln w="9525">
            <a:solidFill>
              <a:srgbClr val="DDF4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 txBox="1"/>
          <p:nvPr/>
        </p:nvSpPr>
        <p:spPr>
          <a:xfrm>
            <a:off x="5212080" y="40233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A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5212080" y="424281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manual entry → Transaction → SQLite → DataFrame → Charts</a:t>
            </a:r>
            <a:endParaRPr lang="en-US" sz="10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2C5E6CC-6968-4110-86BD-269D7183AD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714" y="5026"/>
            <a:ext cx="2445479" cy="457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7498080" y="137160"/>
            <a:ext cx="1188720" cy="1188720"/>
          </a:xfrm>
          <a:prstGeom prst="ellipse">
            <a:avLst/>
          </a:prstGeom>
          <a:solidFill>
            <a:srgbClr val="CF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Orb2"/>
          <p:cNvSpPr/>
          <p:nvPr/>
        </p:nvSpPr>
        <p:spPr>
          <a:xfrm>
            <a:off x="8412480" y="4114800"/>
            <a:ext cx="731520" cy="731520"/>
          </a:xfrm>
          <a:prstGeom prst="ellipse">
            <a:avLst/>
          </a:prstGeom>
          <a:solidFill>
            <a:srgbClr val="D6E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!!Kicker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KEY FEATURES &amp; CONCEPTS USED</a:t>
            </a:r>
            <a:endParaRPr lang="en-US" sz="1000" dirty="0"/>
          </a:p>
        </p:txBody>
      </p:sp>
      <p:sp>
        <p:nvSpPr>
          <p:cNvPr id="5" name="!!Title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and the Python behind them</a:t>
            </a:r>
            <a:endParaRPr lang="en-US" sz="2600" dirty="0"/>
          </a:p>
        </p:txBody>
      </p:sp>
      <p:sp>
        <p:nvSpPr>
          <p:cNvPr id="6" name="!!Footer"/>
          <p:cNvSpPr txBox="1"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Expense Analytics &amp; Budget Management System</a:t>
            </a:r>
            <a:endParaRPr lang="en-US" sz="850" dirty="0"/>
          </a:p>
        </p:txBody>
      </p:sp>
      <p:sp>
        <p:nvSpPr>
          <p:cNvPr id="7" name="!!PageNo"/>
          <p:cNvSpPr txBox="1"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6928" y="134416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" y="13441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17830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average, largest expense and budget position at a glance.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697480" y="1234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807208" y="1344168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264408" y="13441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807208" y="17830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import, analyze and manage budgets in one click.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377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66928" y="2487168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24128" y="24871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29260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and add expenses; CSV import and export.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697480" y="2377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2807208" y="2487168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264408" y="24871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control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2807208" y="29260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limits with Within / Near / Over status per category.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3520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66928" y="363016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024128" y="36301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40690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daily and category charts with a month filter.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697480" y="3520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807208" y="3630168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3264408" y="36301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insights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2807208" y="40690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CSV report and smart insights from current data.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0" y="1216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029200" y="146304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 txBox="1"/>
          <p:nvPr/>
        </p:nvSpPr>
        <p:spPr>
          <a:xfrm>
            <a:off x="516636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621792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Transaction, Budget, Database and ExpenseAnalytics classes with encapsulation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029200" y="210312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 txBox="1"/>
          <p:nvPr/>
        </p:nvSpPr>
        <p:spPr>
          <a:xfrm>
            <a:off x="5166360" y="21031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621792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ExpenseApp(tk.Tk) and MetricCard(tk.Frame) extend Tkinter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029200" y="274320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 txBox="1"/>
          <p:nvPr/>
        </p:nvSpPr>
        <p:spPr>
          <a:xfrm>
            <a:off x="5166360" y="27432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621792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map(), reduce() and lambda for compact data operations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029200" y="338328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 txBox="1"/>
          <p:nvPr/>
        </p:nvSpPr>
        <p:spPr>
          <a:xfrm>
            <a:off x="5166360" y="33832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621792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TransactionIterator with __iter__() and __next__()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029200" y="402336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 txBox="1"/>
          <p:nvPr/>
        </p:nvSpPr>
        <p:spPr>
          <a:xfrm>
            <a:off x="5166360" y="40233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</a:t>
            </a:r>
            <a:endParaRPr lang="en-US" sz="1150" dirty="0"/>
          </a:p>
        </p:txBody>
      </p:sp>
      <p:sp>
        <p:nvSpPr>
          <p:cNvPr id="48" name="Text 45"/>
          <p:cNvSpPr txBox="1"/>
          <p:nvPr/>
        </p:nvSpPr>
        <p:spPr>
          <a:xfrm>
            <a:off x="621792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groupby + NumPy sum, mean and max for analytics</a:t>
            </a:r>
            <a:endParaRPr lang="en-US" sz="9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08EF1DC-C2E2-A15E-4154-34A0C1A7D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714" y="5026"/>
            <a:ext cx="2445479" cy="457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7955280" y="91440"/>
            <a:ext cx="1051560" cy="1051560"/>
          </a:xfrm>
          <a:prstGeom prst="ellipse">
            <a:avLst/>
          </a:prstGeom>
          <a:solidFill>
            <a:srgbClr val="CF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Orb2"/>
          <p:cNvSpPr/>
          <p:nvPr/>
        </p:nvSpPr>
        <p:spPr>
          <a:xfrm>
            <a:off x="8412480" y="365760"/>
            <a:ext cx="640080" cy="640080"/>
          </a:xfrm>
          <a:prstGeom prst="ellipse">
            <a:avLst/>
          </a:prstGeom>
          <a:solidFill>
            <a:srgbClr val="D6E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!!Kicker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APPLICATION SCREENSHOTS &amp; RESULTS</a:t>
            </a:r>
            <a:endParaRPr lang="en-US" sz="1000" dirty="0"/>
          </a:p>
        </p:txBody>
      </p:sp>
      <p:sp>
        <p:nvSpPr>
          <p:cNvPr id="5" name="!!Title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tested and ready to demo</a:t>
            </a:r>
            <a:endParaRPr lang="en-US" sz="2600" dirty="0"/>
          </a:p>
        </p:txBody>
      </p:sp>
      <p:sp>
        <p:nvSpPr>
          <p:cNvPr id="6" name="!!Footer"/>
          <p:cNvSpPr txBox="1"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Expense Analytics &amp; Budget Management System</a:t>
            </a:r>
            <a:endParaRPr lang="en-US" sz="850" dirty="0"/>
          </a:p>
        </p:txBody>
      </p:sp>
      <p:sp>
        <p:nvSpPr>
          <p:cNvPr id="7" name="!!PageNo"/>
          <p:cNvSpPr txBox="1"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11480" y="1143000"/>
            <a:ext cx="41148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023360" cy="287607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41696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KPI cards, quick actions, category bars, budget ring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17720" y="1143000"/>
            <a:ext cx="41148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a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88720"/>
            <a:ext cx="4023360" cy="28760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63440" y="41696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monthly, daily and category views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4434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730</a:t>
            </a: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daily records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2514600" y="4434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monthly periods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4434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₹6.10L</a:t>
            </a: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spending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629400" y="4434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₹836</a:t>
            </a: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average expense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F88B667-16BA-90DE-BD7C-3781244C98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714" y="5026"/>
            <a:ext cx="2445479" cy="457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7680960" y="182880"/>
            <a:ext cx="1005840" cy="1005840"/>
          </a:xfrm>
          <a:prstGeom prst="ellipse">
            <a:avLst/>
          </a:prstGeom>
          <a:solidFill>
            <a:srgbClr val="CF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!!Orb2"/>
          <p:cNvSpPr/>
          <p:nvPr/>
        </p:nvSpPr>
        <p:spPr>
          <a:xfrm>
            <a:off x="7223760" y="548640"/>
            <a:ext cx="640080" cy="640080"/>
          </a:xfrm>
          <a:prstGeom prst="ellipse">
            <a:avLst/>
          </a:prstGeom>
          <a:solidFill>
            <a:srgbClr val="D6E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!!Kicker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 &amp; FUTURE SCOPE</a:t>
            </a:r>
            <a:endParaRPr lang="en-US" sz="1000" dirty="0"/>
          </a:p>
        </p:txBody>
      </p:sp>
      <p:sp>
        <p:nvSpPr>
          <p:cNvPr id="5" name="!!Title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spending → visible decisions</a:t>
            </a:r>
            <a:endParaRPr lang="en-US" sz="2600" dirty="0"/>
          </a:p>
        </p:txBody>
      </p:sp>
      <p:sp>
        <p:nvSpPr>
          <p:cNvPr id="6" name="!!Footer"/>
          <p:cNvSpPr txBox="1"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Expense Analytics &amp; Budget Management System</a:t>
            </a:r>
            <a:endParaRPr lang="en-US" sz="850" dirty="0"/>
          </a:p>
        </p:txBody>
      </p:sp>
      <p:sp>
        <p:nvSpPr>
          <p:cNvPr id="7" name="!!PageNo"/>
          <p:cNvSpPr txBox="1"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4360" y="14630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581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stores, analyzes, compares and visualizes every expense in a single app.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1488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94360" y="237744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240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Prototype-tested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24963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730 daily records over 24 months: charts, budgets, CSV import and SQLite storage.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0632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94360" y="32918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Course-aligned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34107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OOP, data analysis, visualization, storage and a GUI (CO-1, CO-4, CO-5).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709160" y="1216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14630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4818888" y="15544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categorization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818888" y="18745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Auto-suggest a category from past descriptions and patterns.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766560" y="14630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6876288" y="15544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expenses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876288" y="18745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subscriptions and repeated payments automatically.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709160" y="26517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 txBox="1"/>
          <p:nvPr/>
        </p:nvSpPr>
        <p:spPr>
          <a:xfrm>
            <a:off x="4818888" y="274320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reports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818888" y="30632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PDF / Excel reports for review and presentation.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766560" y="26517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6876288" y="274320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876288" y="30632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user when a category nears its limit.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000" dirty="0"/>
          </a:p>
        </p:txBody>
      </p:sp>
      <p:sp>
        <p:nvSpPr>
          <p:cNvPr id="36" name="Text 33"/>
          <p:cNvSpPr txBox="1"/>
          <p:nvPr/>
        </p:nvSpPr>
        <p:spPr>
          <a:xfrm>
            <a:off x="1371600" y="39593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•  Questions &amp; Discussion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1371600" y="43891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Rao Metta  •  Harshita Chhabra  •  Rajasree G  •  B Lakshmi Priya</a:t>
            </a:r>
            <a:endParaRPr lang="en-US" sz="11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962EEA7-6E7C-6AB0-CB20-6CE86D7443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714" y="5026"/>
            <a:ext cx="2445479" cy="457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playback">
            <a:hlinkClick r:id="" action="ppaction://media"/>
            <a:extLst>
              <a:ext uri="{FF2B5EF4-FFF2-40B4-BE49-F238E27FC236}">
                <a16:creationId xmlns:a16="http://schemas.microsoft.com/office/drawing/2014/main" id="{18EA3B7A-F7AC-958E-D48F-507A24EA1D6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9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3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1060</Words>
  <Application>Microsoft Office PowerPoint</Application>
  <PresentationFormat>On-screen Show (16:9)</PresentationFormat>
  <Paragraphs>202</Paragraphs>
  <Slides>8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Baby Rao Metta</cp:lastModifiedBy>
  <cp:revision>3</cp:revision>
  <dcterms:created xsi:type="dcterms:W3CDTF">2026-10-01T04:18:05Z</dcterms:created>
  <dcterms:modified xsi:type="dcterms:W3CDTF">2026-10-01T04:43:00Z</dcterms:modified>
</cp:coreProperties>
</file>